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P01｜封面</a:t>
            </a:r>
          </a:p>
          <a:p>
            <a:r>
              <a:t>建议用时：30秒</a:t>
            </a:r>
          </a:p>
          <a:p/>
          <a:p>
            <a:r>
              <a:t>【口述讲稿】</a:t>
            </a:r>
          </a:p>
          <a:p>
            <a:r>
              <a:t>各位老师好，我是环境设计专业23创新班的陆世贸，指导教师是陈宁老师。我的课题是《广西宾阳炮龙节祈福文化主题AIGC影像短片设计》，以“龙行街巷，福入万家”为内部创作命题。下面从选题意义、叙事方法、技术验证和实施计划四个方面汇报。</a:t>
            </a:r>
          </a:p>
          <a:p/>
          <a:p>
            <a:r>
              <a:t>【文化与内容依据】</a:t>
            </a:r>
          </a:p>
          <a:p>
            <a:r>
              <a:t>开题报告封面与正文；班级及指导教师职称由作者在本次沟通中确认。</a:t>
            </a:r>
          </a:p>
          <a:p/>
          <a:p/>
          <a:p/>
          <a:p>
            <a:r>
              <a:t>【图片】宾阳舞炮龙 · 夜间全景</a:t>
            </a:r>
          </a:p>
          <a:p>
            <a:r>
              <a:t>发布机构：中国新闻网 / 中新社；日期：2017-02-07；摄影：胡雁</a:t>
            </a:r>
          </a:p>
          <a:p>
            <a:r>
              <a:t>来源页：https://www.chinanews.com.cn/tp/hd2011/2017/02-07/713457.shtml</a:t>
            </a:r>
          </a:p>
          <a:p>
            <a:r>
              <a:t>原图：https://i2.chinanews.com/simg/hd/2017/02/07/639e52daa2ec45e0b9b109f6986e7d7a.jpg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P02｜选题意义</a:t>
            </a:r>
          </a:p>
          <a:p>
            <a:r>
              <a:t>建议用时：60秒</a:t>
            </a:r>
          </a:p>
          <a:p/>
          <a:p>
            <a:r>
              <a:t>【口述讲稿】</a:t>
            </a:r>
          </a:p>
          <a:p>
            <a:r>
              <a:t>本课题的出发点，是从“看见炮火”转向“理解祈福”。国家级非遗资料明确记录，宾阳炮龙节具有禳灾祈福的文化功能；2023年的官方报道也记录了炮龙开光后进入街巷、挨家挨户送福的实践。因此，祈福不是附加在热闹画面上的解释，而是有依据的仪式线索。理论上，我希望建立主题提炼、影像转译、生成控制和人工审校之间的具体设计链条。实践上，炮龙同时涉及长龙运动、多人协作和烟火遮挡，适合检验AIGC镜头的一致性控制。表达上，作品既保留节庆的视听感染力，也让观众理解炮火为何发生、龙为何入巷、居民为何迎龙，以及仪式为何最终以送龙结束。</a:t>
            </a:r>
          </a:p>
          <a:p/>
          <a:p>
            <a:r>
              <a:t>【文化与内容依据】</a:t>
            </a:r>
          </a:p>
          <a:p>
            <a:r>
              <a:t>开题报告“选题意义”；国家级非遗项目页[14]；文化和旅游部2023年报道[15]。讲稿超过200字。</a:t>
            </a:r>
          </a:p>
          <a:p/>
          <a:p/>
          <a:p/>
          <a:p>
            <a:r>
              <a:t>【图片】炮火与群体现场</a:t>
            </a:r>
          </a:p>
          <a:p>
            <a:r>
              <a:t>发布机构：中国新闻网 / 中新社；日期：2023-02-02；摄影：俞靖</a:t>
            </a:r>
          </a:p>
          <a:p>
            <a:r>
              <a:t>来源页：https://www.chinanews.com.cn/tp/hd2011/2023/02-02/1058057.shtml</a:t>
            </a:r>
          </a:p>
          <a:p>
            <a:r>
              <a:t>原图：https://i2.chinanews.com.cn/simg/hd/2023/02/02/wc930x592_696428aa76a745d5b8a79d9a91870462.jpg</a:t>
            </a:r>
          </a:p>
          <a:p/>
          <a:p>
            <a:r>
              <a:t>【图片】炮龙制作与匠人</a:t>
            </a:r>
          </a:p>
          <a:p>
            <a:r>
              <a:t>发布机构：中国新闻网 / 中新社；日期：2023-02-01；摄影：俞靖</a:t>
            </a:r>
          </a:p>
          <a:p>
            <a:r>
              <a:t>来源页：https://www.chinanews.com.cn/sh/2023/02-01/9945429.shtml</a:t>
            </a:r>
          </a:p>
          <a:p>
            <a:r>
              <a:t>原图：https://i2.chinanews.com.cn/simg/ypt/2023/230201/350c699d-bfde-4daf-a3e1-8ac984bd9924_zsite.jpg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P03｜研究问题与范围</a:t>
            </a:r>
          </a:p>
          <a:p>
            <a:r>
              <a:t>建议用时：40秒</a:t>
            </a:r>
          </a:p>
          <a:p/>
          <a:p>
            <a:r>
              <a:t>【口述讲稿】</a:t>
            </a:r>
          </a:p>
          <a:p>
            <a:r>
              <a:t>核心研究问题是，怎样把有依据的祈福文化转化为观众可理解、镜头可控制的影像。文化范围聚焦舞炮龙中的开光、送福、炮火求吉和送龙，不试图在三到五分钟内覆盖灯酒会等全部祈福类型。设计范围也需要清楚：AIGC负责画面设定、复杂镜头试验和非纪实转场，文化依据来自资料核验。最终希望形成文化依据、祈福叙事、视觉语义、AIGC生成和人工审校的闭环。</a:t>
            </a:r>
          </a:p>
          <a:p/>
          <a:p>
            <a:r>
              <a:t>【文化与内容依据】</a:t>
            </a:r>
          </a:p>
          <a:p>
            <a:r>
              <a:t>开题报告“选题意义”“设计内容”及“研究述评”。</a:t>
            </a:r>
          </a:p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P04｜主要内容与五段式叙事</a:t>
            </a:r>
          </a:p>
          <a:p>
            <a:r>
              <a:t>建议用时：80秒</a:t>
            </a:r>
          </a:p>
          <a:p/>
          <a:p>
            <a:r>
              <a:t>【口述讲稿】</a:t>
            </a:r>
          </a:p>
          <a:p>
            <a:r>
              <a:t>短片围绕一个共同愿望怎样被仪式启动、被炮龙带入街巷、被居民共同参与，并最终完成仪式闭合展开，拟分为五段。第一段“备龙候福”，用扎龙、整理器物和居民等待，建立愿望尚未启动的安静状态。第二段“开光启福”，通过点睛、龙头动作、队伍集结和鼓点变化，让炮龙从静物进入仪式状态，不生成玄幻化龙。第三段“入巷送福”是主题核心，依据官方记载，通过龙队入巷、居民迎龙、队伍停留等空间关系，让“福”进入具体生活。第四段“炮火求吉”形成视听高潮，但炮火始终对应居民迎龙、舞龙者持续舞动的行为，让观众看到参与的意义。第五段“送龙收束”，先表现有资料依据的传统送龙，再以烟尘和安静街道留下余韵。这里需要强调，五个章节名称都是作品内部的设计语言，不是地方固定仪式名称。整体以纪实质感为基础，诗性转译只用于有边界的过渡和象征镜头。</a:t>
            </a:r>
          </a:p>
          <a:p/>
          <a:p>
            <a:r>
              <a:t>【文化与内容依据】</a:t>
            </a:r>
          </a:p>
          <a:p>
            <a:r>
              <a:t>开题报告“祈福主题提炼与脚本叙事”；[14][15]。讲稿超过300字。</a:t>
            </a:r>
          </a:p>
          <a:p/>
          <a:p>
            <a:r>
              <a:t>送龙页块为叙事图示，不是仪式照片。残龙焚烧等细节须取得官方或现场资料后再使用；不可把烟尘或空街直接标注为送龙仪式。</a:t>
            </a:r>
          </a:p>
          <a:p/>
          <a:p>
            <a:r>
              <a:t>【图片】匠人扎龙</a:t>
            </a:r>
          </a:p>
          <a:p>
            <a:r>
              <a:t>发布机构：中国新闻网 / 中新社；日期：2019-02-24；摄影：俞靖</a:t>
            </a:r>
          </a:p>
          <a:p>
            <a:r>
              <a:t>来源页：https://www.chinanews.com.cn/sh/2019/02-24/8763343.shtml</a:t>
            </a:r>
          </a:p>
          <a:p>
            <a:r>
              <a:t>原图：https://i2.chinanews.com/simg/cmshd/2019/02/24/cdf893620c174b12a54c8f2da1ac26af.jpg</a:t>
            </a:r>
          </a:p>
          <a:p/>
          <a:p>
            <a:r>
              <a:t>【图片】点睛 / 开光</a:t>
            </a:r>
          </a:p>
          <a:p>
            <a:r>
              <a:t>发布机构：中国新闻网 / 中新社；日期：2018-02-26；摄影：俞靖</a:t>
            </a:r>
          </a:p>
          <a:p>
            <a:r>
              <a:t>来源页：https://www.chinanews.com.cn/sh/2018/02-26/8455063.shtml</a:t>
            </a:r>
          </a:p>
          <a:p>
            <a:r>
              <a:t>原图：https://i2.chinanews.com/simg/cmshd/2018/02/27/7814eb8c04394b8897d4d962ed716f76.jpg</a:t>
            </a:r>
          </a:p>
          <a:p/>
          <a:p>
            <a:r>
              <a:t>【图片】龙队入巷</a:t>
            </a:r>
          </a:p>
          <a:p>
            <a:r>
              <a:t>发布机构：中国新闻网 / 中新社；日期：2023-02-02；摄影：俞靖</a:t>
            </a:r>
          </a:p>
          <a:p>
            <a:r>
              <a:t>来源页：https://www.chinanews.com.cn/tp/hd2011/2023/02-02/1058058.shtml</a:t>
            </a:r>
          </a:p>
          <a:p>
            <a:r>
              <a:t>原图：https://i2.chinanews.com.cn/simg/hd/2023/02/02/wc930x592_5cda931e17714139abd0a28af22c2f05.jpg</a:t>
            </a:r>
          </a:p>
          <a:p/>
          <a:p>
            <a:r>
              <a:t>【图片】迎龙燃炮现场</a:t>
            </a:r>
          </a:p>
          <a:p>
            <a:r>
              <a:t>发布机构：中国新闻网 / 中新社；日期：2023-02-01；摄影：俞靖</a:t>
            </a:r>
          </a:p>
          <a:p>
            <a:r>
              <a:t>来源页：https://www.chinanews.com.cn/sh/2023/02-01/9945429.shtml</a:t>
            </a:r>
          </a:p>
          <a:p>
            <a:r>
              <a:t>原图：https://i2.chinanews.com.cn/simg/ypt/2023/230201/db211de3-7a16-4f20-8928-a89edcdfc778_zsite.jpg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P05｜视觉系统与生成约束</a:t>
            </a:r>
          </a:p>
          <a:p>
            <a:r>
              <a:t>建议用时：50秒</a:t>
            </a:r>
          </a:p>
          <a:p/>
          <a:p>
            <a:r>
              <a:t>【口述讲稿】</a:t>
            </a:r>
          </a:p>
          <a:p>
            <a:r>
              <a:t>为避免模型把宾阳炮龙泛化成普通中国舞龙，我会先建立视觉语义词表，再进入生成。词表分成对象、形态材质、空间、仪式动作和负面约束五类。对象包括龙头、龙身、舞龙者与居民；材质关注竹篾、纸张、麻绳和金红装饰；空间以炮龙老庙、文化广场及宾州镇传统街巷为参照；动作对应开光、入巷送福、燃炮和送龙。核验后的词表再转换为参考图、关键帧和生成条件。单个匠人的样式只是参考之一，不作为全县统一标准；玄幻飞龙、古代宫殿和泛化古镇也不进入本片。</a:t>
            </a:r>
          </a:p>
          <a:p/>
          <a:p>
            <a:r>
              <a:t>【文化与内容依据】</a:t>
            </a:r>
          </a:p>
          <a:p>
            <a:r>
              <a:t>开题报告“前期调研与现实样本边界”“视觉风格、声音与分镜设计”；方法参照Wei等[18]。</a:t>
            </a:r>
          </a:p>
          <a:p/>
          <a:p/>
          <a:p/>
          <a:p>
            <a:r>
              <a:t>【图片】竹篾龙头制作｜邹玉特，2019</a:t>
            </a:r>
          </a:p>
          <a:p>
            <a:r>
              <a:t>发布机构：中国新闻网 / 中新社；日期：2019-02-24；摄影：俞靖</a:t>
            </a:r>
          </a:p>
          <a:p>
            <a:r>
              <a:t>来源页：https://www.chinanews.com.cn/sh/2019/02-24/8763343.shtml</a:t>
            </a:r>
          </a:p>
          <a:p>
            <a:r>
              <a:t>原图：https://i2.chinanews.com/simg/cmshd/2019/02/24/9d3276792d6c40009713e65d495f770e.jpg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P06｜技术路线与镜头生产</a:t>
            </a:r>
          </a:p>
          <a:p>
            <a:r>
              <a:t>建议用时：65秒</a:t>
            </a:r>
          </a:p>
          <a:p/>
          <a:p>
            <a:r>
              <a:t>【口述讲稿】</a:t>
            </a:r>
          </a:p>
          <a:p>
            <a:r>
              <a:t>技术路线由资料核验、叙事与视觉资产、代表小样、正式生产和三层审校五个环节构成。正式生成前，先做三类代表镜头：A测试龙头与四到六名舞龙者转向时，龙体连接和肢体是否稳定；B测试狭窄街巷多人协作时，人数、透视和背景是否一致；C测试烟火遮挡后，龙体再次显现是否发生漂移。每类比较纯文本、参考图和首尾帧等输入方式，保留失败版本。正式生产采用固定资产、关键帧、短镜头、局部修复和后期组接的顺序。平台按小样稳定性、成本和可重复性选择；当复杂镜头反复失败时，通过缩短时长、减少动作变量或独立合成烟火完成降级，保证完整成片。</a:t>
            </a:r>
          </a:p>
          <a:p/>
          <a:p>
            <a:r>
              <a:t>【文化与内容依据】</a:t>
            </a:r>
          </a:p>
          <a:p>
            <a:r>
              <a:t>开题报告“AIGC代表镜头小样与正式生产”“技术路线”“可能出现的技术问题及解决办法”。</a:t>
            </a:r>
          </a:p>
          <a:p/>
          <a:p>
            <a:r>
              <a:t>此页实拍图仅是待测试场景的文化与运动参照，不代表已完成AIGC小样或技术实验。</a:t>
            </a:r>
          </a:p>
          <a:p/>
          <a:p>
            <a:r>
              <a:t>【图片】A  龙体运动</a:t>
            </a:r>
          </a:p>
          <a:p>
            <a:r>
              <a:t>发布机构：中国新闻网 / 中新社；日期：2023-02-01；摄影：俞靖</a:t>
            </a:r>
          </a:p>
          <a:p>
            <a:r>
              <a:t>来源页：https://www.chinanews.com.cn/sh/2023/02-01/9945429.shtml</a:t>
            </a:r>
          </a:p>
          <a:p>
            <a:r>
              <a:t>原图：https://i2.chinanews.com.cn/simg/ypt/2023/230201/0b4a3330-e227-47f6-b94a-d57192a9e799_zsite.jpg</a:t>
            </a:r>
          </a:p>
          <a:p/>
          <a:p>
            <a:r>
              <a:t>【图片】B  多人协作</a:t>
            </a:r>
          </a:p>
          <a:p>
            <a:r>
              <a:t>发布机构：中国新闻网 / 中新社；日期：2023-02-02；摄影：俞靖</a:t>
            </a:r>
          </a:p>
          <a:p>
            <a:r>
              <a:t>来源页：https://www.chinanews.com.cn/tp/hd2011/2023/02-02/1058063.shtml</a:t>
            </a:r>
          </a:p>
          <a:p>
            <a:r>
              <a:t>原图：https://i2.chinanews.com.cn/simg/hd/2023/02/02/wc930x592_d7153f82939043c3b2097075200ccc08.jpg</a:t>
            </a:r>
          </a:p>
          <a:p/>
          <a:p>
            <a:r>
              <a:t>【图片】C  烟火遮挡</a:t>
            </a:r>
          </a:p>
          <a:p>
            <a:r>
              <a:t>发布机构：中国新闻网 / 中新社；日期：2024-02-20；摄影：陈冠言</a:t>
            </a:r>
          </a:p>
          <a:p>
            <a:r>
              <a:t>来源页：https://www.chinanews.com.cn/sh/2024/02-20/10166675.shtml</a:t>
            </a:r>
          </a:p>
          <a:p>
            <a:r>
              <a:t>原图：https://i2.chinanews.com.cn/simg/ypt/2024/240220/b4aa60ff-9050-4214-ae95-9840c714f0db_zsite.jpg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P07｜设计创新</a:t>
            </a:r>
          </a:p>
          <a:p>
            <a:r>
              <a:t>建议用时：60秒</a:t>
            </a:r>
          </a:p>
          <a:p/>
          <a:p>
            <a:r>
              <a:t>【口述讲稿】</a:t>
            </a:r>
          </a:p>
          <a:p>
            <a:r>
              <a:t>本课题的创新集中为两项。第一，文化依据直接进入生成约束。祈福资料先落实为开光、入巷送福、迎龙燃炮和送龙等行为，再将对象、材质、空间和动作整理为视觉语义，最后共同决定镜头、参考图和生成条件，使文化准确性提前进入生产。第二，针对炮龙长尺度、多人协作和烟火遮挡的特点，把复杂镜头转化为可管理任务。通过统一资产、代表小样、短镜头拆分、关键帧约束和传统后期，分别处理结构、运动和遮挡，并保留失败版本与修订原因。两项创新都是具体设计案例的方法探索，用作品和过程材料说明有效性与限制，不预先推导适用于所有非遗影像的普遍结论。</a:t>
            </a:r>
          </a:p>
          <a:p/>
          <a:p>
            <a:r>
              <a:t>【文化与内容依据】</a:t>
            </a:r>
          </a:p>
          <a:p>
            <a:r>
              <a:t>开题报告“创新之处”；讲稿超过200字。</a:t>
            </a:r>
          </a:p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P08｜准备情况</a:t>
            </a:r>
          </a:p>
          <a:p>
            <a:r>
              <a:t>建议用时：35秒</a:t>
            </a:r>
          </a:p>
          <a:p/>
          <a:p>
            <a:r>
              <a:t>【口述讲稿】</a:t>
            </a:r>
          </a:p>
          <a:p>
            <a:r>
              <a:t>根据开题报告，目前已完成文献与官方资料、2023年宾州镇样本及制作资料整理，形成五段叙事、视觉语义词表和镜头测试方案。下一阶段开展十到十五部案例分析，制作三类代表小样；粗剪后邀请八到十二名十八至三十岁的青年观众，检查其对祈福主题与五段结构的理解。反馈用于作品修改，不作为传播效果或统计结论。</a:t>
            </a:r>
          </a:p>
          <a:p/>
          <a:p>
            <a:r>
              <a:t>【文化与内容依据】</a:t>
            </a:r>
          </a:p>
          <a:p>
            <a:r>
              <a:t>两份指导文档P08与开题报告研究设计。已完成状态沿用作者提供材料，不表示本次制作已代为完成现场调研或AIGC实验。</a:t>
            </a:r>
          </a:p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P09｜进度与预期成果</a:t>
            </a:r>
          </a:p>
          <a:p>
            <a:r>
              <a:t>建议用时：45秒</a:t>
            </a:r>
          </a:p>
          <a:p/>
          <a:p>
            <a:r>
              <a:t>【口述讲稿】</a:t>
            </a:r>
          </a:p>
          <a:p>
            <a:r>
              <a:t>计划从2026年9月持续到2027年5月，按资料与小样、脚本与资产、主体生产与粗剪、审校与成片、成果整理五个阶段推进。核心成果是三到五分钟的AIGC短片，同时提交脚本分镜、参考资产、三类代表小样、生成与失败记录、逐镜审校表、报告和展板。评价标准是主题清楚、依据可溯、镜头可控、完整成片成立。我的汇报完毕，请各位老师批评指正。</a:t>
            </a:r>
          </a:p>
          <a:p/>
          <a:p>
            <a:r>
              <a:t>【文化与内容依据】</a:t>
            </a:r>
          </a:p>
          <a:p>
            <a:r>
              <a:t>开题报告“研究进展计划”“预期结果”；指导手册P09。时间为研究计划，不表示未来阶段已完成。</a:t>
            </a:r>
          </a:p>
          <a:p/>
          <a:p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" y="475488"/>
            <a:ext cx="54864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广西民族大学相思湖学院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33271"/>
            <a:ext cx="512064" cy="41148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5303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本科毕业设计 · 开题答辩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92807"/>
            <a:ext cx="5623560" cy="16733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广西宾阳炮龙节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祈福文化主题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AIGC影像短片设计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85032"/>
            <a:ext cx="5486400" cy="6766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选题方向｜AIGC × 非遗影像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祈福文化视觉转译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4471416"/>
            <a:ext cx="521208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4727448"/>
            <a:ext cx="25603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作者｜陆世贸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727448"/>
            <a:ext cx="27432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指导教师｜陈宁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248656"/>
            <a:ext cx="25603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班级｜23创新班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5248656"/>
            <a:ext cx="27432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职称｜高级工程师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51576"/>
            <a:ext cx="25603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专业｜环境设计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327648"/>
            <a:ext cx="557784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龙行街巷 · 福入万家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512064"/>
            <a:ext cx="5440680" cy="3566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2695F"/>
                </a:solidFill>
                <a:latin typeface="SimSun"/>
                <a:ea typeface="SimSun"/>
                <a:cs typeface="SimSun"/>
              </a:rPr>
              <a:t>研究对象｜国家级非遗 · 宾阳炮龙节</a:t>
            </a:r>
          </a:p>
        </p:txBody>
      </p:sp>
      <p:pic>
        <p:nvPicPr>
          <p:cNvPr id="15" name="Picture 14" descr="cns2017hd_01.jpg"/>
          <p:cNvPicPr>
            <a:picLocks noChangeAspect="1"/>
          </p:cNvPicPr>
          <p:nvPr/>
        </p:nvPicPr>
        <p:blipFill>
          <a:blip r:embed="rId2"/>
          <a:srcRect l="10599" r="10599"/>
          <a:stretch>
            <a:fillRect/>
          </a:stretch>
        </p:blipFill>
        <p:spPr>
          <a:xfrm>
            <a:off x="6327648" y="1033271"/>
            <a:ext cx="5440680" cy="461772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327648" y="5907024"/>
            <a:ext cx="544068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公共仪式 → 街巷生活 → 群体参与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6364224"/>
            <a:ext cx="544068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视觉参照｜2017-02-07 · 胡雁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6729984"/>
            <a:ext cx="5440680" cy="32004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研究动机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选题意义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02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46504"/>
            <a:ext cx="10972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从“看见炮火”到“理解祈福”</a:t>
            </a:r>
          </a:p>
        </p:txBody>
      </p:sp>
      <p:pic>
        <p:nvPicPr>
          <p:cNvPr id="10" name="Picture 9" descr="cns2023hd_01.jpg"/>
          <p:cNvPicPr>
            <a:picLocks noChangeAspect="1"/>
          </p:cNvPicPr>
          <p:nvPr/>
        </p:nvPicPr>
        <p:blipFill>
          <a:blip r:embed="rId2"/>
          <a:srcRect t="21076" b="21076"/>
          <a:stretch>
            <a:fillRect/>
          </a:stretch>
        </p:blipFill>
        <p:spPr>
          <a:xfrm>
            <a:off x="566928" y="2468880"/>
            <a:ext cx="3401568" cy="130759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566928" y="3849624"/>
            <a:ext cx="3401568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炮火与群体现场</a:t>
            </a:r>
          </a:p>
        </p:txBody>
      </p:sp>
      <p:pic>
        <p:nvPicPr>
          <p:cNvPr id="12" name="Picture 11" descr="cns2023main_04.jpg"/>
          <p:cNvPicPr>
            <a:picLocks noChangeAspect="1"/>
          </p:cNvPicPr>
          <p:nvPr/>
        </p:nvPicPr>
        <p:blipFill>
          <a:blip r:embed="rId3"/>
          <a:srcRect t="11066" b="31066"/>
          <a:stretch>
            <a:fillRect/>
          </a:stretch>
        </p:blipFill>
        <p:spPr>
          <a:xfrm>
            <a:off x="566928" y="4197096"/>
            <a:ext cx="3401568" cy="130759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566928" y="5577840"/>
            <a:ext cx="3401568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炮龙制作与匠人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386584"/>
            <a:ext cx="5029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359152"/>
            <a:ext cx="635508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理论意义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788920"/>
            <a:ext cx="6565392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建立主题提炼、影像转译、生成控制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与人工审校的具体设计链条。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3557016"/>
            <a:ext cx="5029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529584"/>
            <a:ext cx="635508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实践意义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959352"/>
            <a:ext cx="6565392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面向长龙、多人协作和烟火遮挡，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探索稳定、可复盘的镜头生产方式。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4727448"/>
            <a:ext cx="5029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4700016"/>
            <a:ext cx="635508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表达意义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5129784"/>
            <a:ext cx="6565392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把炮火、入巷、迎龙与送龙放回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仪式关系，让祈福成为可见的叙事。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916168"/>
            <a:ext cx="11064240" cy="347472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916168"/>
            <a:ext cx="45720" cy="34747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966459"/>
            <a:ext cx="105613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炮火为何发生？  龙为何入巷？  居民为何迎龙？  仪式为何以送龙结束？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研究界定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研究问题与范围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03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10512"/>
            <a:ext cx="11018520" cy="9784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如何把有依据的祈福文化，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转化为观众可理解、镜头可控制的AIGC影像？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18104"/>
            <a:ext cx="1975104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文化边界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3063240"/>
            <a:ext cx="2036826" cy="502920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3145536"/>
            <a:ext cx="190881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开光</a:t>
            </a:r>
          </a:p>
        </p:txBody>
      </p:sp>
      <p:sp>
        <p:nvSpPr>
          <p:cNvPr id="13" name="Chevron 12"/>
          <p:cNvSpPr/>
          <p:nvPr/>
        </p:nvSpPr>
        <p:spPr>
          <a:xfrm>
            <a:off x="4857750" y="32415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5202" y="3063240"/>
            <a:ext cx="2036826" cy="502920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9210" y="3145536"/>
            <a:ext cx="190881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送福</a:t>
            </a:r>
          </a:p>
        </p:txBody>
      </p:sp>
      <p:sp>
        <p:nvSpPr>
          <p:cNvPr id="16" name="Chevron 15"/>
          <p:cNvSpPr/>
          <p:nvPr/>
        </p:nvSpPr>
        <p:spPr>
          <a:xfrm>
            <a:off x="7132320" y="32415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9771" y="3063240"/>
            <a:ext cx="2036826" cy="502920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3779" y="3145536"/>
            <a:ext cx="190881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炮火求吉</a:t>
            </a:r>
          </a:p>
        </p:txBody>
      </p:sp>
      <p:sp>
        <p:nvSpPr>
          <p:cNvPr id="19" name="Chevron 18"/>
          <p:cNvSpPr/>
          <p:nvPr/>
        </p:nvSpPr>
        <p:spPr>
          <a:xfrm>
            <a:off x="9406889" y="32415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94342" y="3063240"/>
            <a:ext cx="2036826" cy="502920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8350" y="3145536"/>
            <a:ext cx="190881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送龙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3675887"/>
            <a:ext cx="8860536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聚焦舞炮龙仪式链，不覆盖全部祈福类型。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78808"/>
            <a:ext cx="6894576" cy="1051560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325112"/>
            <a:ext cx="64008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AIGC的设计边界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745736"/>
            <a:ext cx="6400800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画面设定 / 复杂镜头试验 / 非纪实转场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178808"/>
            <a:ext cx="3904487" cy="1051560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4343400"/>
            <a:ext cx="3447288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文化内容来自核验资料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AIGC承担视觉实现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86400"/>
            <a:ext cx="182880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研究目标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431536"/>
            <a:ext cx="1642262" cy="5669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32888" y="5513832"/>
            <a:ext cx="1514246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文化依据</a:t>
            </a:r>
          </a:p>
        </p:txBody>
      </p:sp>
      <p:sp>
        <p:nvSpPr>
          <p:cNvPr id="31" name="Chevron 30"/>
          <p:cNvSpPr/>
          <p:nvPr/>
        </p:nvSpPr>
        <p:spPr>
          <a:xfrm>
            <a:off x="4161434" y="56418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8886" y="5431536"/>
            <a:ext cx="1642262" cy="5669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2894" y="5513832"/>
            <a:ext cx="1514246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祈福叙事</a:t>
            </a:r>
          </a:p>
        </p:txBody>
      </p:sp>
      <p:sp>
        <p:nvSpPr>
          <p:cNvPr id="34" name="Chevron 33"/>
          <p:cNvSpPr/>
          <p:nvPr/>
        </p:nvSpPr>
        <p:spPr>
          <a:xfrm>
            <a:off x="6041440" y="56418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8892" y="5431536"/>
            <a:ext cx="1642262" cy="5669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2900" y="5513832"/>
            <a:ext cx="1514246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视觉语义</a:t>
            </a:r>
          </a:p>
        </p:txBody>
      </p:sp>
      <p:sp>
        <p:nvSpPr>
          <p:cNvPr id="37" name="Chevron 36"/>
          <p:cNvSpPr/>
          <p:nvPr/>
        </p:nvSpPr>
        <p:spPr>
          <a:xfrm>
            <a:off x="7921447" y="56418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8899" y="5431536"/>
            <a:ext cx="1642262" cy="5669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2907" y="5513832"/>
            <a:ext cx="1514246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AIGC生成</a:t>
            </a:r>
          </a:p>
        </p:txBody>
      </p:sp>
      <p:sp>
        <p:nvSpPr>
          <p:cNvPr id="40" name="Chevron 39"/>
          <p:cNvSpPr/>
          <p:nvPr/>
        </p:nvSpPr>
        <p:spPr>
          <a:xfrm>
            <a:off x="9801453" y="5641848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88905" y="5431536"/>
            <a:ext cx="1642262" cy="56692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2913" y="5513832"/>
            <a:ext cx="1514246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5F1E9"/>
                </a:solidFill>
                <a:latin typeface="SimSun"/>
                <a:ea typeface="SimSun"/>
                <a:cs typeface="SimSun"/>
              </a:rPr>
              <a:t>人工审校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叙事设计 /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主要内容与叙事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04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一个共同愿望，如何被炮龙带入街巷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468880"/>
            <a:ext cx="2011680" cy="0"/>
          </a:xfrm>
          <a:prstGeom prst="line">
            <a:avLst/>
          </a:prstGeom>
          <a:ln w="1524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587752"/>
            <a:ext cx="20116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pic>
        <p:nvPicPr>
          <p:cNvPr id="12" name="Picture 11" descr="cns2019craft_03.jpg"/>
          <p:cNvPicPr>
            <a:picLocks noChangeAspect="1"/>
          </p:cNvPicPr>
          <p:nvPr/>
        </p:nvPicPr>
        <p:blipFill>
          <a:blip r:embed="rId2"/>
          <a:srcRect l="2070" r="2070"/>
          <a:stretch>
            <a:fillRect/>
          </a:stretch>
        </p:blipFill>
        <p:spPr>
          <a:xfrm>
            <a:off x="566928" y="3072384"/>
            <a:ext cx="2011680" cy="1399032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566928" y="4663440"/>
            <a:ext cx="2048256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备龙候福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57216"/>
            <a:ext cx="2011680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愿望尚未启动</a:t>
            </a:r>
          </a:p>
        </p:txBody>
      </p:sp>
      <p:sp>
        <p:nvSpPr>
          <p:cNvPr id="15" name="Chevron 14"/>
          <p:cNvSpPr/>
          <p:nvPr/>
        </p:nvSpPr>
        <p:spPr>
          <a:xfrm>
            <a:off x="2624328" y="3648456"/>
            <a:ext cx="137160" cy="19202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825496" y="2468880"/>
            <a:ext cx="2011680" cy="0"/>
          </a:xfrm>
          <a:prstGeom prst="line">
            <a:avLst/>
          </a:prstGeom>
          <a:ln w="1524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25496" y="2587752"/>
            <a:ext cx="20116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pic>
        <p:nvPicPr>
          <p:cNvPr id="18" name="Picture 17" descr="cns2018main_03.jpg"/>
          <p:cNvPicPr>
            <a:picLocks noChangeAspect="1"/>
          </p:cNvPicPr>
          <p:nvPr/>
        </p:nvPicPr>
        <p:blipFill>
          <a:blip r:embed="rId3"/>
          <a:srcRect l="2118" r="2118"/>
          <a:stretch>
            <a:fillRect/>
          </a:stretch>
        </p:blipFill>
        <p:spPr>
          <a:xfrm>
            <a:off x="2825496" y="3072384"/>
            <a:ext cx="2011680" cy="1399032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2825496" y="4663440"/>
            <a:ext cx="2048256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开光启福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5157216"/>
            <a:ext cx="2011680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仪式正式开始</a:t>
            </a:r>
          </a:p>
        </p:txBody>
      </p:sp>
      <p:sp>
        <p:nvSpPr>
          <p:cNvPr id="21" name="Chevron 20"/>
          <p:cNvSpPr/>
          <p:nvPr/>
        </p:nvSpPr>
        <p:spPr>
          <a:xfrm>
            <a:off x="4882896" y="3648456"/>
            <a:ext cx="137160" cy="19202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084064" y="2468880"/>
            <a:ext cx="2011680" cy="0"/>
          </a:xfrm>
          <a:prstGeom prst="line">
            <a:avLst/>
          </a:prstGeom>
          <a:ln w="15240">
            <a:solidFill>
              <a:srgbClr val="A440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84064" y="2587752"/>
            <a:ext cx="20116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pic>
        <p:nvPicPr>
          <p:cNvPr id="24" name="Picture 23" descr="cns2023hd_02.jpg"/>
          <p:cNvPicPr>
            <a:picLocks noChangeAspect="1"/>
          </p:cNvPicPr>
          <p:nvPr/>
        </p:nvPicPr>
        <p:blipFill>
          <a:blip r:embed="rId4"/>
          <a:srcRect l="2224" r="2224"/>
          <a:stretch>
            <a:fillRect/>
          </a:stretch>
        </p:blipFill>
        <p:spPr>
          <a:xfrm>
            <a:off x="5084064" y="3072384"/>
            <a:ext cx="2011680" cy="1399032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5084064" y="4663440"/>
            <a:ext cx="2048256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入巷送福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5157216"/>
            <a:ext cx="2011680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“福”进入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具体生活空间</a:t>
            </a:r>
          </a:p>
        </p:txBody>
      </p:sp>
      <p:sp>
        <p:nvSpPr>
          <p:cNvPr id="27" name="Chevron 26"/>
          <p:cNvSpPr/>
          <p:nvPr/>
        </p:nvSpPr>
        <p:spPr>
          <a:xfrm>
            <a:off x="7141464" y="3648456"/>
            <a:ext cx="137160" cy="19202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342631" y="2468880"/>
            <a:ext cx="2011681" cy="0"/>
          </a:xfrm>
          <a:prstGeom prst="line">
            <a:avLst/>
          </a:prstGeom>
          <a:ln w="1524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42631" y="2587752"/>
            <a:ext cx="20116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pic>
        <p:nvPicPr>
          <p:cNvPr id="30" name="Picture 29" descr="cns2023main_10.jpg"/>
          <p:cNvPicPr>
            <a:picLocks noChangeAspect="1"/>
          </p:cNvPicPr>
          <p:nvPr/>
        </p:nvPicPr>
        <p:blipFill>
          <a:blip r:embed="rId5"/>
          <a:srcRect l="2241" r="2241"/>
          <a:stretch>
            <a:fillRect/>
          </a:stretch>
        </p:blipFill>
        <p:spPr>
          <a:xfrm>
            <a:off x="7342631" y="3072384"/>
            <a:ext cx="2011680" cy="1399032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7342631" y="4663440"/>
            <a:ext cx="2048256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炮火求吉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5157216"/>
            <a:ext cx="2011680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群体参与形成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视听高潮</a:t>
            </a:r>
          </a:p>
        </p:txBody>
      </p:sp>
      <p:sp>
        <p:nvSpPr>
          <p:cNvPr id="33" name="Chevron 32"/>
          <p:cNvSpPr/>
          <p:nvPr/>
        </p:nvSpPr>
        <p:spPr>
          <a:xfrm>
            <a:off x="9400032" y="3648456"/>
            <a:ext cx="137160" cy="19202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601200" y="2468880"/>
            <a:ext cx="2011680" cy="0"/>
          </a:xfrm>
          <a:prstGeom prst="line">
            <a:avLst/>
          </a:prstGeom>
          <a:ln w="1524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01200" y="2587752"/>
            <a:ext cx="20116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3072384"/>
            <a:ext cx="2011680" cy="1399032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236976"/>
            <a:ext cx="1664208" cy="10149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1E9"/>
                </a:solidFill>
                <a:latin typeface="SimSun"/>
                <a:ea typeface="SimSun"/>
                <a:cs typeface="SimSun"/>
              </a:rPr>
              <a:t>传统送龙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1E9"/>
                </a:solidFill>
                <a:latin typeface="SimSun"/>
                <a:ea typeface="SimSun"/>
                <a:cs typeface="SimSun"/>
              </a:rPr>
              <a:t>↓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5F1E9"/>
                </a:solidFill>
                <a:latin typeface="SimSun"/>
                <a:ea typeface="SimSun"/>
                <a:cs typeface="SimSun"/>
              </a:rPr>
              <a:t>日常余韵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663440"/>
            <a:ext cx="2048256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送龙收束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157216"/>
            <a:ext cx="2011680" cy="7223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仪式闭合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愿望回归日常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961888"/>
            <a:ext cx="11064240" cy="347472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5961888"/>
            <a:ext cx="45720" cy="34747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6012179"/>
            <a:ext cx="105613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纪实质感为基础，有限诗性转译为补充；章节名称属于作品内部设计语言。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视觉转译 / VISUAL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视觉系统与生成约束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05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先定义“宾阳炮龙”，再进行AIGC生成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956816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423160"/>
            <a:ext cx="4764024" cy="6309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龙头 / 龙身 / 舞龙者 / 居民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1956816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形态·材质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3108960"/>
            <a:ext cx="4764024" cy="6309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竹篾 / 纸张 / 麻绳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金色鳞片 / 红色装饰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1956816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3794760"/>
            <a:ext cx="4764024" cy="6309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炮龙老庙 / 炮龙文化广场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宾州镇传统街巷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1956816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仪式动作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4480560"/>
            <a:ext cx="4764024" cy="6309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开光 / 入巷送福 / 燃炮 / 送龙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66360"/>
            <a:ext cx="1956816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负面约束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166360"/>
            <a:ext cx="4764024" cy="63093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避免玄幻飞龙、古代宫殿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泛化古镇与普通“中国舞龙”模板</a:t>
            </a:r>
          </a:p>
        </p:txBody>
      </p:sp>
      <p:pic>
        <p:nvPicPr>
          <p:cNvPr id="20" name="Picture 19" descr="cns2019craft_01.jpg"/>
          <p:cNvPicPr>
            <a:picLocks noChangeAspect="1"/>
          </p:cNvPicPr>
          <p:nvPr/>
        </p:nvPicPr>
        <p:blipFill>
          <a:blip r:embed="rId2"/>
          <a:srcRect l="5628" r="5628"/>
          <a:stretch>
            <a:fillRect/>
          </a:stretch>
        </p:blipFill>
        <p:spPr>
          <a:xfrm>
            <a:off x="7882127" y="2468880"/>
            <a:ext cx="3749039" cy="2816352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882127" y="5358384"/>
            <a:ext cx="3749039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竹篾龙头制作｜邹玉特，2019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925312"/>
            <a:ext cx="2587752" cy="37490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6007608"/>
            <a:ext cx="2459736" cy="28346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视觉语义词表</a:t>
            </a:r>
          </a:p>
        </p:txBody>
      </p:sp>
      <p:sp>
        <p:nvSpPr>
          <p:cNvPr id="24" name="Chevron 23"/>
          <p:cNvSpPr/>
          <p:nvPr/>
        </p:nvSpPr>
        <p:spPr>
          <a:xfrm>
            <a:off x="3204972" y="6039612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2424" y="5925312"/>
            <a:ext cx="2587752" cy="37490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6007608"/>
            <a:ext cx="2459736" cy="28346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参考图</a:t>
            </a:r>
          </a:p>
        </p:txBody>
      </p:sp>
      <p:sp>
        <p:nvSpPr>
          <p:cNvPr id="27" name="Chevron 26"/>
          <p:cNvSpPr/>
          <p:nvPr/>
        </p:nvSpPr>
        <p:spPr>
          <a:xfrm>
            <a:off x="6030468" y="6039612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925312"/>
            <a:ext cx="2587752" cy="37490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6007608"/>
            <a:ext cx="2459736" cy="28346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关键帧</a:t>
            </a:r>
          </a:p>
        </p:txBody>
      </p:sp>
      <p:sp>
        <p:nvSpPr>
          <p:cNvPr id="30" name="Chevron 29"/>
          <p:cNvSpPr/>
          <p:nvPr/>
        </p:nvSpPr>
        <p:spPr>
          <a:xfrm>
            <a:off x="8855963" y="6039612"/>
            <a:ext cx="128016" cy="146304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3415" y="5925312"/>
            <a:ext cx="2587752" cy="37490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6007608"/>
            <a:ext cx="2459736" cy="28346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生成约束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技术验证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技术路线与镜头生产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06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先验证，再批量生产；生成与审校形成闭环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68880"/>
            <a:ext cx="1993392" cy="10241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96896"/>
            <a:ext cx="38404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1426464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资料核验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1819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主题定位</a:t>
            </a:r>
          </a:p>
        </p:txBody>
      </p:sp>
      <p:sp>
        <p:nvSpPr>
          <p:cNvPr id="14" name="Chevron 13"/>
          <p:cNvSpPr/>
          <p:nvPr/>
        </p:nvSpPr>
        <p:spPr>
          <a:xfrm>
            <a:off x="2615184" y="2880360"/>
            <a:ext cx="146304" cy="182880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468880"/>
            <a:ext cx="1993392" cy="10241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596896"/>
            <a:ext cx="38404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606040"/>
            <a:ext cx="1426464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叙事与资产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3081528"/>
            <a:ext cx="1819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五段结构 / 视觉语义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2896" y="2880360"/>
            <a:ext cx="146304" cy="182880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2352" y="2468880"/>
            <a:ext cx="1993392" cy="10241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2596896"/>
            <a:ext cx="38404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2606040"/>
            <a:ext cx="1426464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代表小样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081528"/>
            <a:ext cx="1819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三类难点 / 策略对比</a:t>
            </a:r>
          </a:p>
        </p:txBody>
      </p:sp>
      <p:sp>
        <p:nvSpPr>
          <p:cNvPr id="24" name="Chevron 23"/>
          <p:cNvSpPr/>
          <p:nvPr/>
        </p:nvSpPr>
        <p:spPr>
          <a:xfrm>
            <a:off x="7150608" y="2880360"/>
            <a:ext cx="146304" cy="182880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3" y="2468880"/>
            <a:ext cx="1993392" cy="10241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6" y="2596896"/>
            <a:ext cx="38404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0415" y="2606040"/>
            <a:ext cx="1426464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正式生产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3081528"/>
            <a:ext cx="1819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短镜头 / 局部修复</a:t>
            </a:r>
          </a:p>
        </p:txBody>
      </p:sp>
      <p:sp>
        <p:nvSpPr>
          <p:cNvPr id="29" name="Chevron 28"/>
          <p:cNvSpPr/>
          <p:nvPr/>
        </p:nvSpPr>
        <p:spPr>
          <a:xfrm>
            <a:off x="9418319" y="2880360"/>
            <a:ext cx="146304" cy="182880"/>
          </a:xfrm>
          <a:prstGeom prst="chevron">
            <a:avLst/>
          </a:prstGeom>
          <a:solidFill>
            <a:srgbClr val="AA8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7776" y="2468880"/>
            <a:ext cx="1993392" cy="1024128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2596896"/>
            <a:ext cx="38404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2606040"/>
            <a:ext cx="1426464" cy="3383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三层审校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081528"/>
            <a:ext cx="1819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事实 / 视觉 / 叙事</a:t>
            </a:r>
          </a:p>
        </p:txBody>
      </p:sp>
      <p:pic>
        <p:nvPicPr>
          <p:cNvPr id="34" name="Picture 33" descr="cns2023main_08.jpg"/>
          <p:cNvPicPr>
            <a:picLocks noChangeAspect="1"/>
          </p:cNvPicPr>
          <p:nvPr/>
        </p:nvPicPr>
        <p:blipFill>
          <a:blip r:embed="rId2"/>
          <a:srcRect t="11646" b="35646"/>
          <a:stretch>
            <a:fillRect/>
          </a:stretch>
        </p:blipFill>
        <p:spPr>
          <a:xfrm>
            <a:off x="566928" y="3739896"/>
            <a:ext cx="3447288" cy="1207008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566928" y="5102352"/>
            <a:ext cx="3447288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A  龙体运动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59552"/>
            <a:ext cx="344728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约5秒 · 4—6人转向</a:t>
            </a:r>
          </a:p>
        </p:txBody>
      </p:sp>
      <p:pic>
        <p:nvPicPr>
          <p:cNvPr id="37" name="Picture 36" descr="cns2023hd_07.jpg"/>
          <p:cNvPicPr>
            <a:picLocks noChangeAspect="1"/>
          </p:cNvPicPr>
          <p:nvPr/>
        </p:nvPicPr>
        <p:blipFill>
          <a:blip r:embed="rId3"/>
          <a:srcRect t="15655" b="31655"/>
          <a:stretch>
            <a:fillRect/>
          </a:stretch>
        </p:blipFill>
        <p:spPr>
          <a:xfrm>
            <a:off x="4379976" y="3739896"/>
            <a:ext cx="3447288" cy="1207008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4379976" y="5102352"/>
            <a:ext cx="3447288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B  多人协作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9976" y="5559552"/>
            <a:ext cx="344728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5—8秒 · 狭窄街巷</a:t>
            </a:r>
          </a:p>
        </p:txBody>
      </p:sp>
      <p:pic>
        <p:nvPicPr>
          <p:cNvPr id="40" name="Picture 39" descr="cns2024main_02.jpg"/>
          <p:cNvPicPr>
            <a:picLocks noChangeAspect="1"/>
          </p:cNvPicPr>
          <p:nvPr/>
        </p:nvPicPr>
        <p:blipFill>
          <a:blip r:embed="rId4"/>
          <a:srcRect t="13702" b="33702"/>
          <a:stretch>
            <a:fillRect/>
          </a:stretch>
        </p:blipFill>
        <p:spPr>
          <a:xfrm>
            <a:off x="8193023" y="3739896"/>
            <a:ext cx="3447288" cy="1207008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8193023" y="5102352"/>
            <a:ext cx="3447288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C  烟火遮挡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5559552"/>
            <a:ext cx="3447288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遮挡后主体再次显现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007608"/>
            <a:ext cx="11064240" cy="347472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6007608"/>
            <a:ext cx="45720" cy="34747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6057900"/>
            <a:ext cx="105613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固定视觉资产 → 关键帧 → 短镜头生成 → 局部修复 → 后期组接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设计贡献 /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设计创新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07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创新不是“用了AI”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96312"/>
            <a:ext cx="5394960" cy="320954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96312"/>
            <a:ext cx="5394960" cy="5029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612648" cy="4297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355848"/>
            <a:ext cx="49377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文化依据进入生成约束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995928"/>
            <a:ext cx="4983480" cy="10789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祈福文化资料 → 仪式行为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视觉语义 → 镜头设计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参考图 / Prompt / 生成约束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" y="5221224"/>
            <a:ext cx="4928616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5528" y="5394960"/>
            <a:ext cx="4937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把文化资料转化为可执行的画面规则。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2496312"/>
            <a:ext cx="5394960" cy="3209544"/>
          </a:xfrm>
          <a:prstGeom prst="rect">
            <a:avLst/>
          </a:prstGeom>
          <a:solidFill>
            <a:srgbClr val="EAE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2496312"/>
            <a:ext cx="5394960" cy="5029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761488"/>
            <a:ext cx="612648" cy="4297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AA8750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355848"/>
            <a:ext cx="49377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复杂镜头转化为可管理任务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995928"/>
            <a:ext cx="4983480" cy="10789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统一视觉资产 + 代表镜头小样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短镜头拆分 + 关键帧约束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局部修复 + 传统后期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64808" y="5221224"/>
            <a:ext cx="4928616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64808" y="5394960"/>
            <a:ext cx="4937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把复杂运动拆成可测试、可修复的镜头。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016752"/>
            <a:ext cx="11064240" cy="347472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6016752"/>
            <a:ext cx="45720" cy="34747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067044"/>
            <a:ext cx="105613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保留失败版本与修订原因，使设计过程可以追溯、比较与复盘。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实施基础 /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准备情况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08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从资料核验到镜头测试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9736"/>
            <a:ext cx="548640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2695F"/>
                </a:solidFill>
                <a:latin typeface="SimSun"/>
                <a:ea typeface="SimSun"/>
                <a:cs typeface="SimSun"/>
              </a:rPr>
              <a:t>已完成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1638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063240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炮龙节文献与官方资料整理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36210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520440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2023宾州镇现实样本整理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40782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977639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炮龙制作与视觉资料收集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45354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434840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五段式叙事框架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49926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892040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视觉语义词表框架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5449824"/>
            <a:ext cx="86868" cy="8686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5349240"/>
            <a:ext cx="555040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技术路线与镜头测试方案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56832" y="2441448"/>
            <a:ext cx="0" cy="3474720"/>
          </a:xfrm>
          <a:prstGeom prst="line">
            <a:avLst/>
          </a:prstGeom>
          <a:ln w="1270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77456" y="2459736"/>
            <a:ext cx="4553712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下一阶段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035808"/>
            <a:ext cx="161848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A8750"/>
                </a:solidFill>
                <a:latin typeface="SimSun"/>
                <a:ea typeface="SimSun"/>
                <a:cs typeface="SimSun"/>
              </a:rPr>
              <a:t>10—15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3108960"/>
            <a:ext cx="2889504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部案例分析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95744" y="3739896"/>
            <a:ext cx="4507992" cy="0"/>
          </a:xfrm>
          <a:prstGeom prst="line">
            <a:avLst/>
          </a:prstGeom>
          <a:ln w="762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68312" y="3950208"/>
            <a:ext cx="161848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A8750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9096" y="4023360"/>
            <a:ext cx="2889504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类代表镜头小样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95744" y="4654296"/>
            <a:ext cx="4507992" cy="0"/>
          </a:xfrm>
          <a:prstGeom prst="line">
            <a:avLst/>
          </a:prstGeom>
          <a:ln w="762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68312" y="4864608"/>
            <a:ext cx="161848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A8750"/>
                </a:solidFill>
                <a:latin typeface="SimSun"/>
                <a:ea typeface="SimSun"/>
                <a:cs typeface="SimSun"/>
              </a:rPr>
              <a:t>8—12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4937760"/>
            <a:ext cx="2889504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名青年观众粗剪反馈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007608"/>
            <a:ext cx="11064240" cy="347472"/>
          </a:xfrm>
          <a:prstGeom prst="rect">
            <a:avLst/>
          </a:prstGeom>
          <a:solidFill>
            <a:srgbClr val="EEE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6007608"/>
            <a:ext cx="45720" cy="347472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057900"/>
            <a:ext cx="105613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观看反馈用于作品迭代：检查主题与结构理解，不预设传播效果。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11480"/>
            <a:ext cx="50292" cy="182880"/>
          </a:xfrm>
          <a:prstGeom prst="rect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70332"/>
            <a:ext cx="45720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实施安排 /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进度与预期成果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50876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419088"/>
            <a:ext cx="11064240" cy="0"/>
          </a:xfrm>
          <a:prstGeom prst="line">
            <a:avLst/>
          </a:prstGeom>
          <a:ln w="889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0528"/>
            <a:ext cx="9144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C736B"/>
                </a:solidFill>
                <a:latin typeface="SimSun"/>
                <a:ea typeface="SimSun"/>
                <a:cs typeface="SimSun"/>
              </a:rPr>
              <a:t>广西宾阳炮龙节祈福文化主题AIGC影像短片设计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3344" y="6483096"/>
            <a:ext cx="89611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44031"/>
                </a:solidFill>
                <a:latin typeface="SimSun"/>
                <a:ea typeface="SimSun"/>
                <a:cs typeface="SimSun"/>
              </a:rPr>
              <a:t>09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1097280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2026.09 — 2027.05｜以完整成片为目标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3008376"/>
            <a:ext cx="10588752" cy="0"/>
          </a:xfrm>
          <a:prstGeom prst="line">
            <a:avLst/>
          </a:prstGeom>
          <a:ln w="13970">
            <a:solidFill>
              <a:srgbClr val="AA87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587752"/>
            <a:ext cx="21488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2026.09—10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44368"/>
            <a:ext cx="128016" cy="128016"/>
          </a:xfrm>
          <a:prstGeom prst="ellipse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282696"/>
            <a:ext cx="2167128" cy="7406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资料核验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主题定位 / 小样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87752"/>
            <a:ext cx="21488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2026.11—2027.01</a:t>
            </a:r>
          </a:p>
        </p:txBody>
      </p:sp>
      <p:sp>
        <p:nvSpPr>
          <p:cNvPr id="15" name="Oval 14"/>
          <p:cNvSpPr/>
          <p:nvPr/>
        </p:nvSpPr>
        <p:spPr>
          <a:xfrm>
            <a:off x="2907792" y="2944368"/>
            <a:ext cx="128016" cy="128016"/>
          </a:xfrm>
          <a:prstGeom prst="ellipse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282696"/>
            <a:ext cx="2167128" cy="7406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脚本与分镜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声音 / 视觉资产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587752"/>
            <a:ext cx="21488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2027.02—03</a:t>
            </a:r>
          </a:p>
        </p:txBody>
      </p:sp>
      <p:sp>
        <p:nvSpPr>
          <p:cNvPr id="18" name="Oval 17"/>
          <p:cNvSpPr/>
          <p:nvPr/>
        </p:nvSpPr>
        <p:spPr>
          <a:xfrm>
            <a:off x="5175504" y="2944368"/>
            <a:ext cx="128016" cy="128016"/>
          </a:xfrm>
          <a:prstGeom prst="ellipse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3282696"/>
            <a:ext cx="2167128" cy="7406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主体镜头生产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修复 / 剪辑 / 粗剪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2587752"/>
            <a:ext cx="21488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2027.04</a:t>
            </a:r>
          </a:p>
        </p:txBody>
      </p:sp>
      <p:sp>
        <p:nvSpPr>
          <p:cNvPr id="21" name="Oval 20"/>
          <p:cNvSpPr/>
          <p:nvPr/>
        </p:nvSpPr>
        <p:spPr>
          <a:xfrm>
            <a:off x="7443215" y="2944368"/>
            <a:ext cx="128016" cy="128016"/>
          </a:xfrm>
          <a:prstGeom prst="ellipse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3" y="3282696"/>
            <a:ext cx="2167128" cy="7406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文化审校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观看反馈 / 成片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2587752"/>
            <a:ext cx="2148840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2027.05</a:t>
            </a:r>
          </a:p>
        </p:txBody>
      </p:sp>
      <p:sp>
        <p:nvSpPr>
          <p:cNvPr id="24" name="Oval 23"/>
          <p:cNvSpPr/>
          <p:nvPr/>
        </p:nvSpPr>
        <p:spPr>
          <a:xfrm>
            <a:off x="9710928" y="2944368"/>
            <a:ext cx="128016" cy="128016"/>
          </a:xfrm>
          <a:prstGeom prst="ellipse">
            <a:avLst/>
          </a:prstGeom>
          <a:solidFill>
            <a:srgbClr val="A44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3282696"/>
            <a:ext cx="2167128" cy="7406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成果整理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报告 / 展板 / 答辩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4297680"/>
            <a:ext cx="11064240" cy="0"/>
          </a:xfrm>
          <a:prstGeom prst="line">
            <a:avLst/>
          </a:prstGeom>
          <a:ln w="10160">
            <a:solidFill>
              <a:srgbClr val="D9D4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4498848"/>
            <a:ext cx="27432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4031"/>
                </a:solidFill>
                <a:latin typeface="SimSun"/>
                <a:ea typeface="SimSun"/>
                <a:cs typeface="SimSun"/>
              </a:rPr>
              <a:t>预期成果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83480"/>
            <a:ext cx="3145536" cy="4846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A8750"/>
                </a:solidFill>
                <a:latin typeface="SimSun"/>
                <a:ea typeface="SimSun"/>
                <a:cs typeface="SimSun"/>
              </a:rPr>
              <a:t>3—5分钟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05272"/>
            <a:ext cx="3346704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C312E"/>
                </a:solidFill>
                <a:latin typeface="SimSun"/>
                <a:ea typeface="SimSun"/>
                <a:cs typeface="SimSun"/>
              </a:rPr>
              <a:t>AIGC影像短片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4882896"/>
            <a:ext cx="2542032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脚本与分镜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5504688"/>
            <a:ext cx="254203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视觉设定与参考资产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882896"/>
            <a:ext cx="2542032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生成 / 失败 / 修订记录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5504688"/>
            <a:ext cx="254203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逐镜审校表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882896"/>
            <a:ext cx="2542032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毕业设计报告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504688"/>
            <a:ext cx="254203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2C312E"/>
                </a:solidFill>
                <a:latin typeface="SimSun"/>
                <a:ea typeface="SimSun"/>
                <a:cs typeface="SimSun"/>
              </a:rPr>
              <a:t>主视觉 / 剧照 / 展板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071616"/>
            <a:ext cx="11064240" cy="292608"/>
          </a:xfrm>
          <a:prstGeom prst="rect">
            <a:avLst/>
          </a:prstGeom>
          <a:solidFill>
            <a:srgbClr val="526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6102705"/>
            <a:ext cx="9418320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5F1E9"/>
                </a:solidFill>
                <a:latin typeface="SimSun"/>
                <a:ea typeface="SimSun"/>
                <a:cs typeface="SimSun"/>
              </a:rPr>
              <a:t>主题清楚 · 依据可溯 · 镜头可控 · 成片成立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6107277"/>
            <a:ext cx="1417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1E9"/>
                </a:solidFill>
                <a:latin typeface="SimSun"/>
                <a:ea typeface="SimSun"/>
                <a:cs typeface="SimSun"/>
              </a:rPr>
              <a:t>敬请指正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广西宾阳炮龙节祈福文化主题AIGC影像短片设计｜开题答辩</dc:title>
  <dc:subject>本科毕业设计开题答辩；9页；16:9</dc:subject>
  <dc:creator>陆世贸</dc:creator>
  <cp:keywords>宾阳炮龙节,祈福文化,AIGC,非遗影像,环境设计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